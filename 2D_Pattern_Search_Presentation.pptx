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"/>
              </a:rPr>
              <a:t>2D Pattern Search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CA3AF"/>
                </a:solidFill>
                <a:latin typeface="Segoe UI"/>
              </a:rPr>
              <a:t>Seven algorithms visualized, benchmarked, and explained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59E0B"/>
                </a:solidFill>
                <a:latin typeface="Segoe UI"/>
              </a:rPr>
              <a:t>CSC755M  —  Programming Assignment 2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020" y="3383280"/>
            <a:ext cx="155448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0020" y="340156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Naive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9092" y="3383280"/>
            <a:ext cx="1554480" cy="457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9092" y="340156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Rabin-Karp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98164" y="3383280"/>
            <a:ext cx="1554480" cy="457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8164" y="340156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KMP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17236" y="3383280"/>
            <a:ext cx="1554480" cy="457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17236" y="340156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Boyer-Moore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36308" y="3383280"/>
            <a:ext cx="1554480" cy="4572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36308" y="340156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Aho-Corasick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55380" y="3383280"/>
            <a:ext cx="1554480" cy="45720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5380" y="340156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Bird-Baker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74452" y="3383280"/>
            <a:ext cx="155448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74452" y="3401568"/>
            <a:ext cx="1554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KMP-Naive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160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EA5E9"/>
                </a:solidFill>
                <a:latin typeface="Consolas"/>
              </a:rPr>
              <a:t>python main.py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4114800"/>
            <a:ext cx="3044952" cy="4114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415137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0EA5E9"/>
                </a:solidFill>
                <a:latin typeface="Consolas"/>
              </a:rPr>
              <a:t>python main.py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is 2D Pattern Search?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Finding a sub-matrix P inside a larger integer matrix 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EA5E9"/>
                </a:solidFill>
                <a:latin typeface="Segoe UI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  <a:latin typeface="Segoe UI"/>
              </a:rPr>
              <a:t>• Given a text matrix M (NR × NC) and a pattern matrix P (PR × PC)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Find all positions (i, j) where M[i..i+PR-1][j..j+PC-1] == P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Values are integers — any alphabet size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Report top-left corner of every matching window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18872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2C55E"/>
                </a:solidFill>
                <a:latin typeface="Segoe UI"/>
              </a:rPr>
              <a:t>Example: 4 matches found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1600200"/>
            <a:ext cx="5852160" cy="21031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53328" y="1691640"/>
            <a:ext cx="5632704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Matrix M (6×6)          Pattern P (2×2)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─────────────────────   ───────────────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1  2  3  4  5  6        2  3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7 [2  3] 8 [2  3]       5  6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9 [5  6] 1 [5  6]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1  2  3  4  5  6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7 [2  3] 8 [2  3]       Matches at: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9 [5  6] 1 [5  6]       (1,1) (1,4) (4,1) (4,4)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Segoe UI"/>
              </a:rPr>
              <a:t>Seven Algorithms Compared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794760"/>
            <a:ext cx="160020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8130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Naive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405079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CCCC"/>
                </a:solidFill>
                <a:latin typeface="Segoe UI"/>
              </a:rPr>
              <a:t>Baseline, O(NR·NC·PR·PC)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38528" y="3794760"/>
            <a:ext cx="160020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84248" y="38130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Rabin-Karp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84248" y="405079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CCCC"/>
                </a:solidFill>
                <a:latin typeface="Segoe UI"/>
              </a:rPr>
              <a:t>Rolling hash, O(NR·NC) avg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02736" y="3794760"/>
            <a:ext cx="1600200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48456" y="38130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KMP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8456" y="405079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CCCC"/>
                </a:solidFill>
                <a:latin typeface="Segoe UI"/>
              </a:rPr>
              <a:t>LPS filter on row 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66944" y="3794760"/>
            <a:ext cx="160020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12664" y="38130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Boyer-Moore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12664" y="405079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CCCC"/>
                </a:solidFill>
                <a:latin typeface="Segoe UI"/>
              </a:rPr>
              <a:t>Bad-char shifts on row 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31152" y="3794760"/>
            <a:ext cx="1600200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76872" y="38130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Aho-Corasick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6872" y="405079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CCCC"/>
                </a:solidFill>
                <a:latin typeface="Segoe UI"/>
              </a:rPr>
              <a:t>Multi-row automaton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3794760"/>
            <a:ext cx="160020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41080" y="38130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Bird-Baker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05079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CCCC"/>
                </a:solidFill>
                <a:latin typeface="Segoe UI"/>
              </a:rPr>
              <a:t>AC horiz + KMP vert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59568" y="3794760"/>
            <a:ext cx="160020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05288" y="3813048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KMP-Naive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05288" y="4050791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CCCCCC"/>
                </a:solidFill>
                <a:latin typeface="Segoe UI"/>
              </a:rPr>
              <a:t>KMP per unique row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1. Naive (Brute-Force)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Slide a window over every valid position and compare all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Segoe U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  <a:latin typeface="Segoe UI"/>
              </a:rPr>
              <a:t>• Outer loops: slide window over all (NR-PR+1)×(NC-PC+1) positions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Inner loops: compare all PR×PC cells one by one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Early exit on first mismatch in current window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No preprocessing, no skipping — pure brute force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Baseline for comparing all other algorithms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5303520" cy="16459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520440"/>
            <a:ext cx="508406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for i in range(NR - PR + 1):       # slide top row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for j in range(NC - PC + 1):     # slide left col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for pi in range(PR):            # pattern row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for pj in range(PC):          # pattern col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  compare M[i+pi][j+pj] vs P[pi][pj]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  if mismatch → break early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Segoe UI"/>
              </a:rPr>
              <a:t>Sample trace — window (1,1)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54480"/>
            <a:ext cx="594360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1645920"/>
            <a:ext cx="5724144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Matrix row 1: 7  [2  3]  8  2  3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Matrix row 2: 9  [5  6]  1  5  6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Pattern:       2   3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         5   6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Compare M[1][1]=2 vs P[0][0]=2  OK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Compare M[1][2]=3 vs P[0][1]=3  OK   (row 0 done)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Compare M[2][1]=5 vs P[1][0]=5  OK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Compare M[2][2]=6 vs P[1][1]=6  OK   MATCH at (1,1)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749039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37673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396849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749039"/>
            <a:ext cx="19202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37673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Search (worst)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396849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O(NR·NC·PR·PC)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3749039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37673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0112" y="396849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434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Segoe UI"/>
              </a:rPr>
              <a:t>Best case: P[0][0] not in M → 1 comparison per window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2. Rabin-Karp (2D Rolling Hash)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Hash entire windows; only verify on hash match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Segoe UI"/>
              </a:rPr>
              <a:t>Two-pass hashing strategy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  <a:latin typeface="Segoe UI"/>
              </a:rPr>
              <a:t>• Pass 1 — Horizontal: sliding hash of width PC across each row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Pass 2 — Vertical: roll the row-hashes downward by PR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Gives one 2D hash per window position in O(NR·NC) total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Hash match → cell-by-cell verify (handles collisions)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Double hashing (two base/mod pairs) → near-zero false positives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5303520" cy="1783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520440"/>
            <a:ext cx="508406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# Horizontal: Horner sliding window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hash_new = (hash_old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    - row[j-1] * base^(PC-1)) * base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    + row[j+PC-1]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Vertical: same idea over row-hashes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vhash[i][j] = roll(vhash[i-1][j],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        remove row_h[i-1][j],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        add    row_h[i+PR-1][j])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Segoe UI"/>
              </a:rPr>
              <a:t>What happens at each window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54480"/>
            <a:ext cx="5943600" cy="20116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1645920"/>
            <a:ext cx="5724144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vhash[i][j] == pattern_hash?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NO  →  skip (1 comparison only)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YES →  verify all PR×PC cells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Sample (6×6 matrix, pattern [2,3]/[5,6]):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Windows (1,1) (1,4) (4,1) (4,4) → hash HIT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All 4 verified → 4 matches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Other 21 windows → hash MISS, 1 comp each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3749039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37673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396849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 + PR·PC)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3749039"/>
            <a:ext cx="1920240" cy="50292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37673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Search (average)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396849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3749039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3767327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0112" y="3968495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4348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59E0B"/>
                </a:solidFill>
                <a:latin typeface="Segoe UI"/>
              </a:rPr>
              <a:t>Best case: all-1s matrix, all-9s pattern → 0 cell verifications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3. KMP Row-Filter + Naive Vertical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LPS failure function eliminates redundant comparisons in the first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Segoe UI"/>
              </a:rPr>
              <a:t>The LPS (Failure)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  <a:latin typeface="Segoe UI"/>
              </a:rPr>
              <a:t>• LPS[i] = length of longest proper prefix of P[0][0..i] that is also a suffix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On mismatch at position k, shift pattern to align its LPS border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Never re-examines already-matched characters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Applied only to P[0] (first pattern row) to find candidate columns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Candidates then verified row-by-row naively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5303520" cy="1280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520440"/>
            <a:ext cx="5084064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P[0] = [1, 2, 1, 2, 3]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LPS  = [0, 0, 1, 2, 0]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prefix [1,2] == suffix [1,2] at index 3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P[0] = [2, 3]  →  LPS = [0, 0]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no non-empty proper prefix == suffix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Segoe UI"/>
              </a:rPr>
              <a:t>KMP trace — row 1 of sample matrix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54480"/>
            <a:ext cx="5943600" cy="2423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1645920"/>
            <a:ext cx="5724144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Text M[1] = [7, 2, 3, 8, 2, 3]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Pattern P[0] = [2, 3]   LPS = [0,0]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t=0: 7 vs 2  mismatch, j stays 0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t=1: 2 vs 2  match, j→1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t=2: 3 vs 3  match, j→2=PC → HIT col 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       j resets to LPS[1]=0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t=3: 8 vs 2  mismatch, j stays 0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t=4: 2 vs 2  match, j→1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t=5: 3 vs 3  match → HIT col 4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Candidates {1,4} → verify P[1]=[5,6]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Both pass → MATCH at (1,1) and (1,4)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89204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4910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LPS build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111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O(PC)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4892040"/>
            <a:ext cx="1920240" cy="5029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4910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KMP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5111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89204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4910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Vertical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5111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O(cands·(PR-1)·PC)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489204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49103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1114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O(PC)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4. Boyer-Moore Bad-Character Row-Filter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Scan pattern right-to-left; bad char mismatches enable large jumps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Segoe UI"/>
              </a:rPr>
              <a:t>Bad-Character Heuristic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  <a:latin typeface="Segoe UI"/>
              </a:rPr>
              <a:t>• Build table: bc[x] = rightmost position of value x in P[0]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Scan current window right-to-left (k from PC-1 down to 0)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Mismatch at k with text char x → shift = max(1, k − bc.get(x,−1))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x not in pattern → shift = k+1 (big jump over the whole pattern)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On full P[0] match → verify P[1..PR-1] naively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5303520" cy="1828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520440"/>
            <a:ext cx="5084064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P[0] = [2, 3]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bc   = { 2: 0, 3: 1 }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Shift formula: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shift = max(1, k - bc.get(x, -1))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x=7 (not in pattern, k=1):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shift = max(1, 1-(-1)) = 2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x=8 (not in pattern, k=1):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shift = max(1, 1-(-1)) =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Segoe UI"/>
              </a:rPr>
              <a:t>BM trace — row 1 of sample matrix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54480"/>
            <a:ext cx="5943600" cy="3200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1645920"/>
            <a:ext cx="5724144" cy="3063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Text M[1] = [7, 2, 3, 8, 2, 3]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P[0]=[2,3]  bc={2:0, 3:1}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j=0: k=1: M[1][1]=2 vs P[0][1]=3  MISS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x=2, bc[2]=0, shift=max(1,1-0)=1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j → 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j=1: k=1: M[1][2]=3 vs P[0][1]=3  OK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k=0: M[1][1]=2 vs P[0][0]=2  OK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Full P[0] match → verify row 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M[2][1..2]=[5,6]==P[1] → MATCH (1,1)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j → 2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j=2: k=1: M[1][3]=8 vs P[0][1]=3  MISS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x=8, not in P, shift=max(1,1-(-1))=2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j → 4  (skipped j=3 entirely!)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j=4: full match → MATCH (1,4). Done.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534924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53675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" y="5568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O(PC)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5349240"/>
            <a:ext cx="1920240" cy="5029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96312" y="53675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Best 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96312" y="5568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O(NR·NC/PC)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534924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53675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Worst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5568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O(NR·NC·PC)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37960" y="534924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11112" y="53675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Space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11112" y="55686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O(PC)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5. Aho-Corasick Multi-Row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Finite automaton over all PR pattern rows; single linear pass per matrix row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Segoe UI"/>
              </a:rPr>
              <a:t>Three phases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  <a:latin typeface="Segoe UI"/>
              </a:rPr>
              <a:t>• Phase 1 — Build trie: insert each pattern row P[0]..P[PR-1]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Phase 2 — BFS failure links: longest proper suffix in the trie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Phase 3 — Scan each matrix row once; record hits per pattern-row ID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Phase 4 — Alignment: check that all PR rows hit the same column j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063240"/>
            <a:ext cx="5303520" cy="2560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154680"/>
            <a:ext cx="5084064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# Trie after inserting [2,3] and [5,6]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root -2-&gt; n1 -3-&gt; n2  out=[0]  (P[0])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root -5-&gt; n3 -6-&gt; n4  out=[1]  (P[1])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Failure links (all depth-1 → root)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n1.fail=root  n2.fail=root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n3.fail=root  n4.fail=root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Scan M[1]=[7,2,3,8,2,3]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col0: 7 → root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col1: 2 → n1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col2: 3 → n2 → hits[1][0].add(1)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col3: 8 → fail→root → root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col4: 2 → n1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col5: 3 → n2 → hits[1][0].add(4)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Segoe UI"/>
              </a:rPr>
              <a:t>Alignment 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54480"/>
            <a:ext cx="5943600" cy="24231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61888" y="1645920"/>
            <a:ext cx="5724144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# After scanning all matrix rows: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hits[1][0] = {1, 4}  # P[0] matched in row 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hits[2][1] = {1, 4}  # P[1] matched in row 2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Check window (top_i=1, j=1):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rid=0: 1 in hits[1][0]? YES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rid=1: 1 in hits[2][1]? YES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→ MATCH at (1,1)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Check window (top_i=1, j=0):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rid=0: 0 in hits[1][0]? NO → skip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Finds all 4 matches: (1,1)(1,4)(4,1)(4,4)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416052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25312" y="41788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Build automaton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25312" y="43799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O(PR·PC)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4160520"/>
            <a:ext cx="1920240" cy="5029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82712" y="41788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Row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82712" y="43799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66960" y="416052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40112" y="417880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Alignment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0112" y="437997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O(out_rows·out_cols·PR)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6. Bird-Baker (AC Horizontal + KMP Vertical)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Tokenize unique pattern rows → AC horizontal scan → KMP vertical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Segoe UI"/>
              </a:rPr>
              <a:t>Key insight: tokenization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  <a:latin typeface="Segoe UI"/>
              </a:rPr>
              <a:t>• Assign each unique pattern row a unique integer token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Token equality ↔ row equality (no false matches possible)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Phase 1 (AC): scan matrix rows, write tokens into token_grid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Phase 2 (KMP): for each column, run KMP on the token column vector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KMP hit in token column = full 2D match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Improves alignment from O(out_rows·out_cols·PR) → O(NR·out_cols)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520440"/>
            <a:ext cx="5303520" cy="2560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611880"/>
            <a:ext cx="5084064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# Token assignment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P[0]=(2,3) → tok=1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P[1]=(5,6) → tok=2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tok_seq = [1, 2]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Token grid (only cols 1 and 4 have tokens)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row 0: {1:1}        row 3: {1:1}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row 1: {1:1, 4:1}   row 4: {1:1, 4:1}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row 2: {1:2, 4:2}   row 5: {1:2, 4:2}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KMP vertical, column j=1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stream = [1, 1, 2, 1, 1, 2]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tok_seq= [1, 2]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KMP hits at index 1 and 4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→ MATCH at (1,1) and (4,1)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Segoe UI"/>
              </a:rPr>
              <a:t>Why Bird-Baker beats plain AC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72768"/>
            <a:ext cx="5943600" cy="14173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Phase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Aho-Corasick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040" y="16002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Bird-Baker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egoe UI"/>
              </a:rPr>
              <a:t>Horizontal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egoe UI"/>
              </a:rPr>
              <a:t>AC scan  O(NR·NC)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193852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egoe UI"/>
              </a:rPr>
              <a:t>AC scan  O(NR·NC)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egoe UI"/>
              </a:rPr>
              <a:t>Vertical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egoe UI"/>
              </a:rPr>
              <a:t>Alignment O(R·C·PR)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2276856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egoe UI"/>
              </a:rPr>
              <a:t>KMP      O(NR·C)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6151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egoe UI"/>
              </a:rPr>
              <a:t>Advantage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0" y="26151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0E0E0"/>
                </a:solidFill>
                <a:latin typeface="Segoe UI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615184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59E0B"/>
                </a:solidFill>
                <a:latin typeface="Segoe UI"/>
              </a:rPr>
              <a:t>Independent of PR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0" y="3063240"/>
            <a:ext cx="5943600" cy="1920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61888" y="3154680"/>
            <a:ext cx="5724144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# Column j=4 stream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stream    = [0, 1, 2, 0, 1, 2]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tok_seq   = [1, 2]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LPS       = [0, 0]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KMP finds [1,2] at index 1 and 4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→ MATCH at (1,4) and (4,4)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Total matches: (1,1)(1,4)(4,1)(4,4) 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512064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25312" y="51389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AC build + scan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25312" y="5340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09560" y="5120640"/>
            <a:ext cx="1920240" cy="502920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82712" y="51389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KMP vertical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82712" y="5340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O(PR+NR·out_C)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966960" y="512064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40112" y="513892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Total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40112" y="534009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7. KMP Horizontal + Naive Vertical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Deduplicate pattern rows; build one LPS per unique row; naive alignment 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A5E9"/>
                </a:solidFill>
                <a:latin typeface="Segoe UI"/>
              </a:rPr>
              <a:t>Row deduplication benefit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E0E0E0"/>
                </a:solidFill>
                <a:latin typeface="Segoe UI"/>
              </a:rPr>
              <a:t>• Collect the set of unique rows in P (e.g., 3 unique out of 7 rows)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Build LPS array once per unique row — reuse across all text rows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KMP scan: for every text row × every unique pattern row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row_hits[i][r] = set of column starts where r matches in M[i]</a:t>
            </a:r>
          </a:p>
          <a:p>
            <a:r>
              <a:rPr sz="1300">
                <a:solidFill>
                  <a:srgbClr val="E0E0E0"/>
                </a:solidFill>
                <a:latin typeface="Segoe UI"/>
              </a:rPr>
              <a:t>• Alignment: set-membership check, then full cell verify if pass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429000"/>
            <a:ext cx="5303520" cy="2560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5488" y="3520440"/>
            <a:ext cx="5084064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# Sample: P has 2 unique rows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unique = {(2,3), (5,6)}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lps_map[(2,3)] = [0,0]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lps_map[(5,6)] = [0,0]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KMP scan row 1 for (2,3)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row_hits[1][(2,3)] = {1, 4}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KMP scan row 2 for (5,6)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row_hits[2][(5,6)] = {1, 4}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/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# Alignment check (i=1, j=1):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pi=0: 1 in row_hits[1][(2,3)]? YES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pi=1: 1 in row_hits[2][(5,6)]? YES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→ verify cells →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11887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2C55E"/>
                </a:solidFill>
                <a:latin typeface="Segoe UI"/>
              </a:rPr>
              <a:t>KMP vs KMP-Naive: when to use which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52160" y="1572768"/>
            <a:ext cx="5943600" cy="17373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7880" y="1600200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Segoe UI"/>
              </a:rPr>
              <a:t>Property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60020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Segoe UI"/>
              </a:rPr>
              <a:t>KMP (engine_kmp)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EA5E9"/>
                </a:solidFill>
                <a:latin typeface="Segoe UI"/>
              </a:rPr>
              <a:t>KMP-Naive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80" y="1938528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LPS arrays built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1938528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1  (for P[0] only)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93852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1 per unique row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2276856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Horizontal scan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2276856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KMP on P[0]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2768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KMP on every unique row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615184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Vertical phase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35240" y="2615184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Naive rows 1..PR-1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261518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Set-lookup then verify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2953512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Best for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295351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Good first-row filter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953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Segoe UI"/>
              </a:rPr>
              <a:t>Many repeated rows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429000"/>
            <a:ext cx="5943600" cy="16459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61888" y="3520440"/>
            <a:ext cx="5724144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0EA5E9"/>
                </a:solidFill>
                <a:latin typeface="Consolas"/>
              </a:rPr>
              <a:t># Alignment loop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for i in range(NR - PR + 1):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for j in range(NC - PC + 1):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ok = all(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j in row_hits[i+pi][pat_rows[pi]]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  for pi in range(PR)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)</a:t>
            </a:r>
          </a:p>
          <a:p>
            <a:r>
              <a:rPr sz="1050">
                <a:solidFill>
                  <a:srgbClr val="0EA5E9"/>
                </a:solidFill>
                <a:latin typeface="Consolas"/>
              </a:rPr>
              <a:t>    if ok: full cell-by-cell verify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0" y="521208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25312" y="523036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LPS 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25312" y="5431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O(unique·PC)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09560" y="5212080"/>
            <a:ext cx="1920240" cy="5029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82712" y="523036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KMP scan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82712" y="5431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O(NR·unique·NC)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66960" y="5212080"/>
            <a:ext cx="1920240" cy="50292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40112" y="5230368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CA3AF"/>
                </a:solidFill>
                <a:latin typeface="Segoe UI"/>
              </a:rPr>
              <a:t>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0112" y="5431536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onsolas"/>
              </a:rPr>
              <a:t>O(NR·NC)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Complexity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All seven algorithms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554480" cy="34747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Algorithm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1143000"/>
            <a:ext cx="1783080" cy="34747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39" y="11887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Preprocessing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143000"/>
            <a:ext cx="1920240" cy="34747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59" y="11887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Search (avg)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06440" y="1143000"/>
            <a:ext cx="1234440" cy="34747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0" y="1188720"/>
            <a:ext cx="1234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Space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143000"/>
            <a:ext cx="2011680" cy="34747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78040" y="11887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A5E9"/>
                </a:solidFill>
                <a:latin typeface="Segoe UI"/>
              </a:rPr>
              <a:t>Best-case trigger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508760"/>
            <a:ext cx="1554480" cy="43891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" y="1600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Naive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19" y="1508760"/>
            <a:ext cx="178308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39" y="1591056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O(1)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49039" y="1508760"/>
            <a:ext cx="192024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4759" y="159105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O(NR·NC·PR·PC)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1508760"/>
            <a:ext cx="123444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52160" y="159105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O(1)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0" y="1508760"/>
            <a:ext cx="201168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159105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P[0][0] not in 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2011680"/>
            <a:ext cx="1554480" cy="43891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8328" y="21031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Rabin-Karp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874519" y="2011680"/>
            <a:ext cx="178308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20239" y="2093976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O(NR·NC+PR·PC)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749039" y="2011680"/>
            <a:ext cx="192024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94759" y="209397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06440" y="2011680"/>
            <a:ext cx="123444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52160" y="209397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2011680"/>
            <a:ext cx="201168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78040" y="209397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Distinct hash, 0 verifies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2514600"/>
            <a:ext cx="1554480" cy="43891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8328" y="26060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KMP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74519" y="2514600"/>
            <a:ext cx="178308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920239" y="2596896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O(PC)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49039" y="2514600"/>
            <a:ext cx="192024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794759" y="259689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06440" y="2514600"/>
            <a:ext cx="123444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852160" y="259689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O(PC)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2514600"/>
            <a:ext cx="201168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259689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P[0][0] not in 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017520"/>
            <a:ext cx="1554480" cy="4389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38328" y="310896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Boyer-Moore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74519" y="3017520"/>
            <a:ext cx="178308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920239" y="3099816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O(PC)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39" y="3017520"/>
            <a:ext cx="192024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794759" y="309981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O(NR·NC/PC)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06440" y="3017520"/>
            <a:ext cx="123444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2160" y="309981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O(PC)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132320" y="3017520"/>
            <a:ext cx="201168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309981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Chars not in P[0]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74320" y="3520440"/>
            <a:ext cx="1554480" cy="43891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38328" y="3611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Aho-Corasick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874519" y="3520440"/>
            <a:ext cx="178308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920239" y="3602736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O(PR·PC)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49039" y="3520440"/>
            <a:ext cx="192024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794759" y="360273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06440" y="3520440"/>
            <a:ext cx="123444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52160" y="360273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0" y="3520440"/>
            <a:ext cx="201168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78040" y="360273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All rows identical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4023360"/>
            <a:ext cx="1554480" cy="43891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8328" y="41148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Bird-Baker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874519" y="4023360"/>
            <a:ext cx="178308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920239" y="4105656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O(PR·PC)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39" y="4023360"/>
            <a:ext cx="192024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94759" y="410565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806440" y="4023360"/>
            <a:ext cx="123444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852160" y="410565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132320" y="4023360"/>
            <a:ext cx="2011680" cy="438912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178040" y="410565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All rows identical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274320" y="4526280"/>
            <a:ext cx="1554480" cy="4389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338328" y="461772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KMP-Naive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1874519" y="4526280"/>
            <a:ext cx="178308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920239" y="4608576"/>
            <a:ext cx="1783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O(unique·PC)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749039" y="4526280"/>
            <a:ext cx="192024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794759" y="4608576"/>
            <a:ext cx="19202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O(NR·unique·NC)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06440" y="4526280"/>
            <a:ext cx="123444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852160" y="4608576"/>
            <a:ext cx="12344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O(NR·NC)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7132320" y="4526280"/>
            <a:ext cx="2011680" cy="438912"/>
          </a:xfrm>
          <a:prstGeom prst="rect">
            <a:avLst/>
          </a:prstGeom>
          <a:solidFill>
            <a:srgbClr val="16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178040" y="4608576"/>
            <a:ext cx="20116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0E0E0"/>
                </a:solidFill>
                <a:latin typeface="Consolas"/>
              </a:rPr>
              <a:t>1 unique row, not in 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74320" y="6053328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Segoe UI"/>
              </a:rPr>
              <a:t>NR×NC = matrix size   PR×PC = pattern size   unique = unique pattern rows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Best-Case Sample Datasets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Preloaded in datasets/ — each engineered for minimum comparisons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1600200" cy="15087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160020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" y="122529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Naive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" y="15087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P[0][0] not in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4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Segoe UI"/>
              </a:rPr>
              <a:t>Matrix: cyclic 1-2-3-4-5
Pattern: row starts with 9
Result: 1 comp/window → immediate break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929384" y="1188720"/>
            <a:ext cx="1600200" cy="15087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29384" y="1188720"/>
            <a:ext cx="1600200" cy="29260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984248" y="122529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Rabin-Karp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84248" y="15087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Distinct hash, 0 cell verifications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84248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Segoe UI"/>
              </a:rPr>
              <a:t>Matrix: all 1s
Pattern: all 9s
Result: hash never matches → 0 verifications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30168" y="1188720"/>
            <a:ext cx="1600200" cy="15087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30168" y="1188720"/>
            <a:ext cx="1600200" cy="292608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85032" y="122529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KMP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15087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P[0][0] not in 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2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Segoe UI"/>
              </a:rPr>
              <a:t>Matrix: cyclic 1-2-3-4-5
Pattern P[0] starts with 9
Result: j-pointer stays 0, no candidates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0952" y="1188720"/>
            <a:ext cx="1600200" cy="15087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30952" y="1188720"/>
            <a:ext cx="160020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85816" y="122529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Boyer-Moore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85816" y="150876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Bad char not in P[0]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85816" y="178308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Segoe UI"/>
              </a:rPr>
              <a:t>Matrix: all 9s
Pattern P[0]=[1,2,3,4,5]
Result: shift=PC every window → 39 comps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" y="2834640"/>
            <a:ext cx="1600200" cy="15087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834640"/>
            <a:ext cx="1600200" cy="2926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" y="287121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Aho-Corasick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3464" y="315468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All matrix rows == P[0]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" y="34290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Segoe UI"/>
              </a:rPr>
              <a:t>Matrix: all rows = [1,2,3,4,5,...]
Pattern: 7 rows all [1,2,3,4,5]
Result: AC finds hits instantly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929384" y="2834640"/>
            <a:ext cx="1600200" cy="15087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929384" y="2834640"/>
            <a:ext cx="1600200" cy="292608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84248" y="287121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Bird-Baker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4248" y="315468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Same as AC (identical files)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84248" y="34290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Segoe UI"/>
              </a:rPr>
              <a:t>Matrix: all rows = [1,2,3,4,5,...]
Pattern: 7 rows all [1,2,3,4,5]
Result: KMP vertical is trivial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30168" y="2834640"/>
            <a:ext cx="1600200" cy="15087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30168" y="2834640"/>
            <a:ext cx="1600200" cy="2926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85032" y="2871216"/>
            <a:ext cx="1508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KMP-Naive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85032" y="315468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F59E0B"/>
                </a:solidFill>
                <a:latin typeface="Segoe UI"/>
              </a:rPr>
              <a:t>1 unique row, not in matrix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85032" y="3429000"/>
            <a:ext cx="15087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9CA3AF"/>
                </a:solidFill>
                <a:latin typeface="Segoe UI"/>
              </a:rPr>
              <a:t>Matrix: cyclic 1-2-3-4-5
Pattern: all rows [7,7,7]
Result: row_hits empty everywhere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6199632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CA3AF"/>
                </a:solidFill>
                <a:latin typeface="Consolas"/>
              </a:rPr>
              <a:t>Load from: datasets/{engine}_best_matrix.txt  and  datasets/{engine}_best_pattern.txt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GUI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Interactive controls, animation, and benchmarking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760720" cy="2240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88720"/>
            <a:ext cx="576072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Left Sidebar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0020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Load presets (5x5, 12x12, 8x8 Binary, Not Found)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19476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Paste matrix and pattern (space-separated integers)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29514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Select algorithm via radio buttons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64261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Stats dashboard: Matches, Comparisons, Time,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9900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Run Single Mode / Multi-Race / Growth Chart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188720"/>
            <a:ext cx="5760720" cy="2240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188720"/>
            <a:ext cx="5760720" cy="34747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123444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Center: Visualization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60020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Color-coded cell grid updates per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4767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Green = matched cell,  Red = mismatch cell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29514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Scrollable (mouse-wheel + scrollbars)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64261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Play / Pause animation at 200ms per step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99008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Drag sash to resize vs. tracelog panel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566160"/>
            <a:ext cx="5760720" cy="2240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566160"/>
            <a:ext cx="5760720" cy="34747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118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Right: Tracelog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9776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Logs every match position as it is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32511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After Multi-Race: full benchmark summary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6725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Ranks all 7 engines by average time (ms)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502005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Export log to .txt 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53675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Draggable width via PanedWindow sash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3566160"/>
            <a:ext cx="5760720" cy="224028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3566160"/>
            <a:ext cx="57607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09360" y="36118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Growth Chart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3977640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Plots comparisons and time vs. matrix size 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55080" y="4325112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Independent random N×N matrix per data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4672584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Fixed sizes: 5 8 10 12 15 18 20 25 30 35 40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5020056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Same value alphabet as current matrix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5367528"/>
            <a:ext cx="5486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E0E0E0"/>
                </a:solidFill>
                <a:latin typeface="Segoe UI"/>
              </a:rPr>
              <a:t>• Reproducible: fixed random seed = 42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137160"/>
            <a:ext cx="1170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Summary &amp;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658368"/>
            <a:ext cx="1170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CA3AF"/>
                </a:solidFill>
                <a:latin typeface="Segoe UI"/>
              </a:rPr>
              <a:t>When to use each algorithm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51560"/>
            <a:ext cx="12188952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34440"/>
            <a:ext cx="14630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4416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Naive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3258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0E0E0"/>
                </a:solidFill>
                <a:latin typeface="Segoe UI"/>
              </a:rPr>
              <a:t>Use as a correctness baseline or when the matrix is tiny (&lt; 10×10).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92808"/>
            <a:ext cx="1463040" cy="53035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00253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Rabin-Karp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98424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0E0E0"/>
                </a:solidFill>
                <a:latin typeface="Segoe UI"/>
              </a:rPr>
              <a:t>Good all-rounder for large matrices. Near-O(NR·NC) with negligible collision risk via double hashing.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551176"/>
            <a:ext cx="1463040" cy="530352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" y="2660904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KMP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642616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0E0E0"/>
                </a:solidFill>
                <a:latin typeface="Segoe UI"/>
              </a:rPr>
              <a:t>Efficient when P[0] has a rich LPS structure or rarely matches — strong first-row filter.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209544"/>
            <a:ext cx="1463040" cy="5303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319272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Boyer-Moore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300984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0E0E0"/>
                </a:solidFill>
                <a:latin typeface="Segoe UI"/>
              </a:rPr>
              <a:t>Best raw throughput on large alphabets or long patterns. Sub-linear in the best case.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867912"/>
            <a:ext cx="1463040" cy="5303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97764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Aho-Corasick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3959352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0E0E0"/>
                </a:solidFill>
                <a:latin typeface="Segoe UI"/>
              </a:rPr>
              <a:t>Optimal when many pattern rows share prefixes; single automaton for all rows simultaneously.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526280"/>
            <a:ext cx="1463040" cy="530352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636008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Bird-Baker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6177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0E0E0"/>
                </a:solidFill>
                <a:latin typeface="Segoe UI"/>
              </a:rPr>
              <a:t>Best overall for multi-row patterns. Combines AC horizontal efficiency with O(NR·out_cols) KMP vertical.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84648"/>
            <a:ext cx="1463040" cy="5303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294376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Segoe UI"/>
              </a:rPr>
              <a:t>KMP-Naive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276088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E0E0E0"/>
                </a:solidFill>
                <a:latin typeface="Segoe UI"/>
              </a:rPr>
              <a:t>Wins when the pattern has many identical rows — builds and reuses one LPS per unique row.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A1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345936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59E0B"/>
                </a:solidFill>
                <a:latin typeface="Segoe UI"/>
              </a:rPr>
              <a:t>All algorithms find the same matches — they differ only in how many comparisons they perform.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